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spc="150">
                <a:solidFill>
                  <a:srgbClr val="C8102E"/>
                </a:solidFill>
                <a:latin typeface="Calibri"/>
              </a:rPr>
              <a:t>PREPARED FOR NY 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NASCAR Sponsorship</a:t>
            </a:r>
          </a:p>
          <a:p>
            <a:pPr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Visibility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9CED9"/>
                </a:solidFill>
                <a:latin typeface="Calibri"/>
              </a:rPr>
              <a:t>Strategic Recommendations for NY Racing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4348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C9CED9"/>
                </a:solidFill>
                <a:latin typeface="Calibri"/>
              </a:rPr>
              <a:t>Lloyd Todaro   •   August 18,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C9CED9"/>
                </a:solidFill>
                <a:latin typeface="Calibri"/>
              </a:rPr>
              <a:t>“Which sponsors deliver the best visibility per dollar invested?”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270"/>
                </a:solidFill>
                <a:latin typeface="Calibr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The 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54298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37943"/>
            <a:ext cx="3454298" cy="1636776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29970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E1B2E"/>
                </a:solidFill>
                <a:latin typeface="Calibri"/>
              </a:rPr>
              <a:t>477.6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1" i="0">
                <a:solidFill>
                  <a:srgbClr val="1A1E27"/>
                </a:solidFill>
                <a:latin typeface="Calibri"/>
              </a:rPr>
              <a:t>Progressive — Total Visibility Points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 i="1">
                <a:solidFill>
                  <a:srgbClr val="5B6270"/>
                </a:solidFill>
                <a:latin typeface="Calibri"/>
              </a:rPr>
              <a:t>Rank #1 of 5 sponsors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783080"/>
            <a:ext cx="3454298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698" y="1837943"/>
            <a:ext cx="3454298" cy="1636776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298" y="2039112"/>
            <a:ext cx="29970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E1B2E"/>
                </a:solidFill>
                <a:latin typeface="Calibri"/>
              </a:rPr>
              <a:t>39.9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1" i="0">
                <a:solidFill>
                  <a:srgbClr val="1A1E27"/>
                </a:solidFill>
                <a:latin typeface="Calibri"/>
              </a:rPr>
              <a:t>Cheddar's Scratch Kitchen — Points per $M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 i="1">
                <a:solidFill>
                  <a:srgbClr val="5B6270"/>
                </a:solidFill>
                <a:latin typeface="Calibri"/>
              </a:rPr>
              <a:t>≈1.5× Progressive's efficiency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783080"/>
            <a:ext cx="3454298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7316" y="1837943"/>
            <a:ext cx="3454298" cy="1636776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5916" y="2039112"/>
            <a:ext cx="29970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E1B2E"/>
                </a:solidFill>
                <a:latin typeface="Calibri"/>
              </a:rPr>
              <a:t>40%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1" i="0">
                <a:solidFill>
                  <a:srgbClr val="1A1E27"/>
                </a:solidFill>
                <a:latin typeface="Calibri"/>
              </a:rPr>
              <a:t>Race Performance Weight in the Score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 i="1">
                <a:solidFill>
                  <a:srgbClr val="5B6270"/>
                </a:solidFill>
                <a:latin typeface="Calibri"/>
              </a:rPr>
              <a:t>Media visibility can outweigh on-track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911535" cy="173736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33088"/>
            <a:ext cx="101800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120">
                <a:solidFill>
                  <a:srgbClr val="C8102E"/>
                </a:solidFill>
                <a:latin typeface="Calibri"/>
              </a:rPr>
              <a:t>PRIMARY RECOMMENDATION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Cheddar's Scratch Kitchen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 b="0" i="0">
                <a:solidFill>
                  <a:srgbClr val="C9CED9"/>
                </a:solidFill>
                <a:latin typeface="Calibri"/>
              </a:rPr>
              <a:t>The best efficiency in the group and #2 in total visibility — on the smallest budget of the five sponsors analyzed.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PROJECT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How We Measured Sponsorship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5247" y="1783080"/>
            <a:ext cx="2743200" cy="777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 i="0">
                <a:solidFill>
                  <a:srgbClr val="0E1B2E"/>
                </a:solidFill>
                <a:latin typeface="Calibri"/>
              </a:rPr>
              <a:t>Data Sources</a:t>
            </a:r>
          </a:p>
        </p:txBody>
      </p:sp>
      <p:sp>
        <p:nvSpPr>
          <p:cNvPr id="6" name="Chevron 5"/>
          <p:cNvSpPr/>
          <p:nvPr/>
        </p:nvSpPr>
        <p:spPr>
          <a:xfrm>
            <a:off x="4152747" y="1943100"/>
            <a:ext cx="457200" cy="457200"/>
          </a:xfrm>
          <a:prstGeom prst="chevron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4247" y="1783080"/>
            <a:ext cx="2743200" cy="777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 i="0">
                <a:solidFill>
                  <a:srgbClr val="0E1B2E"/>
                </a:solidFill>
                <a:latin typeface="Calibri"/>
              </a:rPr>
              <a:t>Scoring Model</a:t>
            </a:r>
          </a:p>
        </p:txBody>
      </p:sp>
      <p:sp>
        <p:nvSpPr>
          <p:cNvPr id="8" name="Chevron 7"/>
          <p:cNvSpPr/>
          <p:nvPr/>
        </p:nvSpPr>
        <p:spPr>
          <a:xfrm>
            <a:off x="7581747" y="1943100"/>
            <a:ext cx="457200" cy="457200"/>
          </a:xfrm>
          <a:prstGeom prst="chevron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53247" y="1783080"/>
            <a:ext cx="2743200" cy="777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 i="0">
                <a:solidFill>
                  <a:srgbClr val="0E1B2E"/>
                </a:solidFill>
                <a:latin typeface="Calibri"/>
              </a:rPr>
              <a:t>Rankings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A1E27"/>
                </a:solidFill>
                <a:latin typeface="Calibri"/>
              </a:rPr>
              <a:t>Analyzed 5 primary sponsors across 53 tracked races from the 2025 season and 2026 season-to-date (each sponsor's own race count ranges from 11 to 29)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A1E27"/>
                </a:solidFill>
                <a:latin typeface="Calibri"/>
              </a:rPr>
              <a:t>Combined race results, social media, and news coverage into one composite score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A1E27"/>
                </a:solidFill>
                <a:latin typeface="Calibri"/>
              </a:rPr>
              <a:t>Weighted as race performance (40%), a PCA-weighted visibility index across Reddit, YouTube, and news (50%), and special events like wins and playoffs (10%)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66360"/>
            <a:ext cx="54864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5166360"/>
            <a:ext cx="10856671" cy="9144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312664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00">
                <a:solidFill>
                  <a:srgbClr val="C8102E"/>
                </a:solidFill>
                <a:latin typeface="Calibri"/>
              </a:rPr>
              <a:t>WHY IT MATTERS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A1E27"/>
                </a:solidFill>
                <a:latin typeface="Calibri"/>
              </a:rPr>
              <a:t>NY Racing has never had a single, consistent way to compare sponsor visibility across channels. This model gives them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DATA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What We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5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8880"/>
                <a:gridCol w="5029200"/>
                <a:gridCol w="3413455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Race Performance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Racing Reference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53 races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Social Media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Reddit (Arctic Shift), YouTube Data API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Fan engagement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News Coverage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GDELT DOC 2.0 + BigQuery GKG, ~19 curated domains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Weighted by source tier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Costs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Forbes, Jayski, Speedway Media, RTR Sports, team/league press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Estimates, not disclosed contracts</a:t>
                      </a:r>
                    </a:p>
                  </a:txBody>
                  <a:tcPr marL="128016" marR="12801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434840"/>
            <a:ext cx="54864" cy="1463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4434840"/>
            <a:ext cx="10856671" cy="1463040"/>
          </a:xfrm>
          <a:prstGeom prst="rect">
            <a:avLst/>
          </a:prstGeom>
          <a:solidFill>
            <a:srgbClr val="F7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581144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00">
                <a:solidFill>
                  <a:srgbClr val="C8102E"/>
                </a:solidFill>
                <a:latin typeface="Calibri"/>
              </a:rPr>
              <a:t>IMPORTANT CAVEAT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1E27"/>
                </a:solidFill>
                <a:latin typeface="Calibri"/>
              </a:rPr>
              <a:t>Cost estimates are approximations, not actual contract values. Cheddar's Scratch Kitchen's $4.9M figure is the least certain number in this analysis: it borrows Castrol's own sourced per-race rate rather than a disclosed number for the Cheddar's/RCR deal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FINDING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Efficiency Leadership Doesn't Track Brand Prestige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0E1B2E"/>
                </a:solidFill>
                <a:latin typeface="Calibri"/>
              </a:rPr>
              <a:t>Cheddar's Scratch Kitchen delivers the best visibility per dollar of any tracked sponsor, about 1.5x Progressive, while its budget sits close to Castrol's rather than Progressive's.</a:t>
            </a:r>
          </a:p>
        </p:txBody>
      </p:sp>
      <p:pic>
        <p:nvPicPr>
          <p:cNvPr id="6" name="Picture 5" descr="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2423160"/>
            <a:ext cx="704088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5440680"/>
            <a:ext cx="10856671" cy="77724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86984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00">
                <a:solidFill>
                  <a:srgbClr val="C8102E"/>
                </a:solidFill>
                <a:latin typeface="Calibri"/>
              </a:rPr>
              <a:t>SO WHAT?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A1E27"/>
                </a:solidFill>
                <a:latin typeface="Calibri"/>
              </a:rPr>
              <a:t>Cheddar's Scratch Kitchen is worth serious consideration as the primary target. It ranks #2 in total visibility despite the second-smallest race count in the group, at roughly a quarter of Progressive's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FINDING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A Playoff Race Is Worth More Than Double a Regular-Season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0E1B2E"/>
                </a:solidFill>
                <a:latin typeface="Calibri"/>
              </a:rPr>
              <a:t>Average visibility in playoff-window races (races 27 to 36) runs 129% higher than in regular-season races, a bigger swing than the win bonus (1.79x).</a:t>
            </a:r>
          </a:p>
        </p:txBody>
      </p:sp>
      <p:pic>
        <p:nvPicPr>
          <p:cNvPr id="6" name="Picture 5" descr="spons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583" y="2423160"/>
            <a:ext cx="4224527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5440680"/>
            <a:ext cx="10856671" cy="77724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86984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00">
                <a:solidFill>
                  <a:srgbClr val="C8102E"/>
                </a:solidFill>
                <a:latin typeface="Calibri"/>
              </a:rPr>
              <a:t>SO WHAT?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A1E27"/>
                </a:solidFill>
                <a:latin typeface="Calibri"/>
              </a:rPr>
              <a:t>Treat the playoff window as a premium activation period, not just a higher-stakes version of a normal week. Content and hospitality spend should scale up specifically for that ten-race stretch.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FINDING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Reddit Is the Only Channel With a Statistically Reliable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0E1B2E"/>
                </a:solidFill>
                <a:latin typeface="Calibri"/>
              </a:rPr>
              <a:t>Of the three visibility channels tracked, only Reddit's relationship with race performance clears standard significance thresholds (r = -0.34, p = 0.0006, N = 97). YouTube and news trend the same direction but aren't statistically distinguishable from noise at this sample size.</a:t>
            </a:r>
          </a:p>
        </p:txBody>
      </p:sp>
      <p:pic>
        <p:nvPicPr>
          <p:cNvPr id="6" name="Picture 5" descr="scatter_with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707" y="2423160"/>
            <a:ext cx="4526279" cy="3017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5440680"/>
            <a:ext cx="10856671" cy="77724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86984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00">
                <a:solidFill>
                  <a:srgbClr val="C8102E"/>
                </a:solidFill>
                <a:latin typeface="Calibri"/>
              </a:rPr>
              <a:t>SO WHAT?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A1E27"/>
                </a:solidFill>
                <a:latin typeface="Calibri"/>
              </a:rPr>
              <a:t>Weight Reddit most heavily in any future live-monitoring dashboard, and treat YouTube and news mentions as confirmatory rather than primary signals.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Who Should NY Racing Pursue?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272887" cy="420624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57400"/>
            <a:ext cx="463280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120">
                <a:solidFill>
                  <a:srgbClr val="C8102E"/>
                </a:solidFill>
                <a:latin typeface="Calibri"/>
              </a:rPr>
              <a:t>PRIMARY RECOMMENDATION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Cheddar's Scratch Kitchen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19" y="3017520"/>
            <a:ext cx="4632807" cy="7315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3127248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C9CED9"/>
                </a:solidFill>
                <a:latin typeface="Calibri"/>
              </a:rPr>
              <a:t>VISIBILITY</a:t>
            </a:r>
          </a:p>
          <a:p>
            <a:pPr>
              <a:spcBef>
                <a:spcPts val="20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195.6 pts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C9CED9"/>
                </a:solidFill>
                <a:latin typeface="Calibri"/>
              </a:rPr>
              <a:t>Rank #2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886200"/>
            <a:ext cx="4632807" cy="7315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995928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C9CED9"/>
                </a:solidFill>
                <a:latin typeface="Calibri"/>
              </a:rPr>
              <a:t>EFFICIENCY</a:t>
            </a:r>
          </a:p>
          <a:p>
            <a:pPr>
              <a:spcBef>
                <a:spcPts val="20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39.9 pts/$M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C9CED9"/>
                </a:solidFill>
                <a:latin typeface="Calibri"/>
              </a:rPr>
              <a:t>Rank #1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19" y="4754880"/>
            <a:ext cx="4632807" cy="7315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937760"/>
            <a:ext cx="4632807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C8102E"/>
                </a:solidFill>
                <a:latin typeface="Calibri"/>
              </a:rPr>
              <a:t>WHY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 b="0" i="0">
                <a:solidFill>
                  <a:srgbClr val="C9CED9"/>
                </a:solidFill>
                <a:latin typeface="Calibri"/>
              </a:rPr>
              <a:t>The best return per dollar in the group, and still the #2 total-visibility sponsor, for roughly a quarter of Progressive's cost. Contingent on verifying the cost estimate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1783080"/>
            <a:ext cx="5272887" cy="4206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2057400"/>
            <a:ext cx="463280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120">
                <a:solidFill>
                  <a:srgbClr val="5B6270"/>
                </a:solidFill>
                <a:latin typeface="Calibri"/>
              </a:rPr>
              <a:t>ALTERNATIVE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1A1E27"/>
                </a:solidFill>
                <a:latin typeface="Calibri"/>
              </a:rPr>
              <a:t>Progressive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8767" y="3017520"/>
            <a:ext cx="4632807" cy="7315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3127248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5B6270"/>
                </a:solidFill>
                <a:latin typeface="Calibri"/>
              </a:rPr>
              <a:t>VISIBILITY</a:t>
            </a:r>
          </a:p>
          <a:p>
            <a:pPr>
              <a:spcBef>
                <a:spcPts val="200"/>
              </a:spcBef>
            </a:pPr>
            <a:r>
              <a:rPr sz="1900" b="1" i="0">
                <a:solidFill>
                  <a:srgbClr val="1A1E27"/>
                </a:solidFill>
                <a:latin typeface="Calibri"/>
              </a:rPr>
              <a:t>477.6 pts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5B6270"/>
                </a:solidFill>
                <a:latin typeface="Calibri"/>
              </a:rPr>
              <a:t>Rank #1 of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8767" y="3886200"/>
            <a:ext cx="4632807" cy="7315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3995928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5B6270"/>
                </a:solidFill>
                <a:latin typeface="Calibri"/>
              </a:rPr>
              <a:t>EFFICIENCY</a:t>
            </a:r>
          </a:p>
          <a:p>
            <a:pPr>
              <a:spcBef>
                <a:spcPts val="200"/>
              </a:spcBef>
            </a:pPr>
            <a:r>
              <a:rPr sz="1900" b="1" i="0">
                <a:solidFill>
                  <a:srgbClr val="1A1E27"/>
                </a:solidFill>
                <a:latin typeface="Calibri"/>
              </a:rPr>
              <a:t>26.5 pts/$M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4754880"/>
            <a:ext cx="4632807" cy="7315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8767" y="4937760"/>
            <a:ext cx="4632807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100">
                <a:solidFill>
                  <a:srgbClr val="5B6270"/>
                </a:solidFill>
                <a:latin typeface="Calibri"/>
              </a:rPr>
              <a:t>WHY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 b="0" i="0">
                <a:solidFill>
                  <a:srgbClr val="5B6270"/>
                </a:solidFill>
                <a:latin typeface="Calibri"/>
              </a:rPr>
              <a:t>Best for teams that want maximum reach and the best-sourced cost estimate of the group — willing to pay about 3.7× Cheddar's estimated cost for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Choosing Your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227" y="1714500"/>
            <a:ext cx="4587240" cy="1965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886200"/>
          <a:ext cx="10911535" cy="19019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/>
                <a:gridCol w="2651760"/>
                <a:gridCol w="1737360"/>
                <a:gridCol w="1737360"/>
                <a:gridCol w="2681935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Visibility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Efficiency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128016" marR="128016" marT="18288" marB="18288" anchor="ctr">
                    <a:solidFill>
                      <a:srgbClr val="0E1B2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Maximum Visibility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Progressive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477.6 pts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26.5 pts/$M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$18.0M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Maximum Efficiency</a:t>
                      </a:r>
                    </a:p>
                  </a:txBody>
                  <a:tcPr marL="128016" marR="128016" marT="18288" marB="18288" anchor="ctr">
                    <a:solidFill>
                      <a:srgbClr val="F7E3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Cheddar's Scratch Kitchen</a:t>
                      </a:r>
                    </a:p>
                  </a:txBody>
                  <a:tcPr marL="128016" marR="128016" marT="18288" marB="18288" anchor="ctr">
                    <a:solidFill>
                      <a:srgbClr val="F7E3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195.6 pts</a:t>
                      </a:r>
                    </a:p>
                  </a:txBody>
                  <a:tcPr marL="128016" marR="128016" marT="18288" marB="18288" anchor="ctr">
                    <a:solidFill>
                      <a:srgbClr val="F7E3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39.9 pts/$M</a:t>
                      </a:r>
                    </a:p>
                  </a:txBody>
                  <a:tcPr marL="128016" marR="128016" marT="18288" marB="18288" anchor="ctr">
                    <a:solidFill>
                      <a:srgbClr val="F7E3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$4.9M</a:t>
                      </a:r>
                    </a:p>
                  </a:txBody>
                  <a:tcPr marL="128016" marR="128016" marT="18288" marB="18288" anchor="ctr">
                    <a:solidFill>
                      <a:srgbClr val="F7E3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E27"/>
                          </a:solidFill>
                          <a:latin typeface="Calibri"/>
                        </a:rPr>
                        <a:t>Balanced / Hedge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Castrol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108.3 pts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24.1 pts/$M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E27"/>
                          </a:solidFill>
                          <a:latin typeface="Calibri"/>
                        </a:rPr>
                        <a:t>$4.5M</a:t>
                      </a:r>
                    </a:p>
                  </a:txBody>
                  <a:tcPr marL="128016" marR="128016" marT="18288" marB="18288" anchor="ctr"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8102E"/>
                </a:solidFill>
                <a:latin typeface="Calibri"/>
              </a:rPr>
              <a:t>Question for NY Racing:  </a:t>
            </a:r>
            <a:r>
              <a:rPr sz="1250" b="0" i="1">
                <a:solidFill>
                  <a:srgbClr val="5B6270"/>
                </a:solidFill>
                <a:latin typeface="Calibri"/>
              </a:rPr>
              <a:t>Does the budget call for maximum reach, the best return per dollar, or a well-sourced middle option?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00">
                <a:solidFill>
                  <a:srgbClr val="5B6270"/>
                </a:solidFill>
                <a:latin typeface="Calibri"/>
              </a:rPr>
              <a:t>NASCAR SPONSORSHIP VISIBILITY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B6270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spc="140">
                <a:solidFill>
                  <a:srgbClr val="C8102E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 i="0">
                <a:solidFill>
                  <a:srgbClr val="1A1E27"/>
                </a:solidFill>
                <a:latin typeface="Calibri"/>
              </a:rP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11535" cy="2560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707" y="2286000"/>
            <a:ext cx="21945" cy="68580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100885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 spc="60">
                <a:solidFill>
                  <a:srgbClr val="0E1B2E"/>
                </a:solidFill>
                <a:latin typeface="Calibri"/>
              </a:rPr>
              <a:t>IMMEDIATE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50" b="0" i="0">
                <a:solidFill>
                  <a:srgbClr val="1A1E27"/>
                </a:solidFill>
                <a:latin typeface="Calibri"/>
              </a:rPr>
              <a:t>Get a direct cost quote for the Cheddar's Scratch Kitchen / Kyle Busch / RCR No. 8 deal. It's the single number that could change this recommendation.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707" y="3429000"/>
            <a:ext cx="21945" cy="685800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100885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 spc="60">
                <a:solidFill>
                  <a:srgbClr val="0E1B2E"/>
                </a:solidFill>
                <a:latin typeface="Calibri"/>
              </a:rPr>
              <a:t>SHORT TERM (1-2 WEEKS)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50" b="0" i="0">
                <a:solidFill>
                  <a:srgbClr val="1A1E27"/>
                </a:solidFill>
                <a:latin typeface="Calibri"/>
              </a:rPr>
              <a:t>Run a sentiment check on the Kyle Busch Reddit and YouTube corpus to confirm the visibility is net positive before pitching this externally.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69080"/>
            <a:ext cx="100885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 spc="60">
                <a:solidFill>
                  <a:srgbClr val="0E1B2E"/>
                </a:solidFill>
                <a:latin typeface="Calibri"/>
              </a:rPr>
              <a:t>MEDIUM TERM (1 MONTH)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50" b="0" i="0">
                <a:solidFill>
                  <a:srgbClr val="1A1E27"/>
                </a:solidFill>
                <a:latin typeface="Calibri"/>
              </a:rPr>
              <a:t>Revisit the ranking once Cheddar's and Castrol have more races on record. Both sit under 12 tracked races today.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2087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5215" y="620877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C9CED9"/>
                </a:solidFill>
                <a:latin typeface="Calibri"/>
              </a:rPr>
              <a:t>Lloyd Todaro   •   lloydltodaro@gmail.com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